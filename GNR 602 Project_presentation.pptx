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6" r:id="rId10"/>
    <p:sldId id="265" r:id="rId11"/>
    <p:sldId id="267" r:id="rId12"/>
    <p:sldId id="263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5ED78-221C-0F4D-14AB-EE8CAFEE1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67403-C1C3-6D75-448A-F98D1113B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D4BE4-E36A-7844-52B0-28080A170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55AA-30DB-4DF7-A19B-1D4D8E3EA8CC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6C691-BD93-5965-E6BE-7A5E0BB03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CB22B-1BFE-7FB5-3EFE-14F337831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876-EB67-4FED-916A-604AFDDCFE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692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D3CD2-E4EA-68D2-0F9D-6979A0051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A40A4-2DBC-9910-1AFA-09E562F19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E8203-2F18-E8C7-B3E7-6794A49D8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55AA-30DB-4DF7-A19B-1D4D8E3EA8CC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B847C-5CA1-3A85-343B-F60E5AA92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07684-41D0-F833-4613-C6F1CD158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876-EB67-4FED-916A-604AFDDCFE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70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B78F1-C7B0-9289-EC1B-2A1795450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6CD05-C066-2616-1EB3-D8C3802B9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D2C5E-EAA6-ADEA-7E6D-D118D13BD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55AA-30DB-4DF7-A19B-1D4D8E3EA8CC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4238D-2C5F-7C6D-FA12-62DF7233C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C7D20-72CA-B24F-59F7-0ABF57B5E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876-EB67-4FED-916A-604AFDDCFE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150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DD8B0-0816-1FC1-C8C7-A4FE9EE95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39995-863F-01CF-D693-3D10B0533C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3AEAEB-0CD4-E0F2-E557-EE769C83B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2681C-88D4-4404-AD35-B3971DE6E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55AA-30DB-4DF7-A19B-1D4D8E3EA8CC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1A1E29-BC55-585F-E8B6-381BF490A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9EA54-A438-DEB7-5453-D1433192E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876-EB67-4FED-916A-604AFDDCFE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066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D38F9-1F80-5290-F556-90DBBE7CA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2D26D-D077-7E87-73A1-5CCFAE3B2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20565-F63E-2647-A005-4F370B727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0220B5-2794-B30D-CE4D-9FA5B42B20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2AC203-6239-6B0C-B030-2686DB0A7D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C20EBC-203F-0456-E430-6790BEEDC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55AA-30DB-4DF7-A19B-1D4D8E3EA8CC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0860E6-B7EC-6918-6006-94E86CE89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6DE8E1-0945-2B13-A4AD-73782DBCC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876-EB67-4FED-916A-604AFDDCFE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733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D01C-79FA-5EDB-26A9-1957501F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5D9598-FA5A-3BF0-7F7D-93B9318B8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55AA-30DB-4DF7-A19B-1D4D8E3EA8CC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30191-1E82-CA70-7EE3-514D634FC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5DB633-E298-19B6-EE10-DE93CC5A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876-EB67-4FED-916A-604AFDDCFE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727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D5FB36-7CCB-4DA2-5FA5-E65A59BD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55AA-30DB-4DF7-A19B-1D4D8E3EA8CC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A2218E-8D5D-7851-EC39-4B29D8B97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5A4AC-1FEE-55A0-8017-E172116E1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876-EB67-4FED-916A-604AFDDCFE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303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D019C-7327-955D-D6C3-AF804FCA9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0FD60-1DD6-B7B2-5BC0-CD704C562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837C88-103C-3F08-0527-62CDF44724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C9D21-890C-1F66-BF8E-E546F555B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55AA-30DB-4DF7-A19B-1D4D8E3EA8CC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900C9F-E293-A065-6675-8A0CE4BAA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66478-661E-A510-10B2-9D765DD62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876-EB67-4FED-916A-604AFDDCFE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832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88E1F-1C2E-AEEC-3C40-11B5C0208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C0ABBC-E843-9F51-675A-39EEAD71F5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F9C3F3-40DE-47D1-C40B-579417360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61E476-9164-FB01-6DCD-4A9CB1EFC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55AA-30DB-4DF7-A19B-1D4D8E3EA8CC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CE1F7-0186-4B4D-8E36-3DD3C365C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CCEE65-010A-9FCA-4ECB-E4A6879EA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876-EB67-4FED-916A-604AFDDCFE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514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A2937-204A-A1F6-02C6-7188E192C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E5DB88-2767-06BA-39A1-0B4854AC93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28392-C735-55C0-461A-3675EFB50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55AA-30DB-4DF7-A19B-1D4D8E3EA8CC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B2813-5EF4-ACA9-5BBE-1E332F6B9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C5D69-BCCA-9145-A1EB-1DFE02C44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876-EB67-4FED-916A-604AFDDCFE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065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3DCB2B-87E3-D005-87AC-C46C4E0F1B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802EA3-C2BE-91F5-FAD2-ED6F93E763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7BCC9-C0DC-1340-3274-41D28B49B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55AA-30DB-4DF7-A19B-1D4D8E3EA8CC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B6541-250B-D638-5944-7F838009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6B60F-100D-C7E5-3797-13EB09E41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876-EB67-4FED-916A-604AFDDCFE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306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AD5546-3C4E-B692-0D43-1C4BE5948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9FC01-685D-E730-D04E-B3B5A352C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2582B-C8EC-B441-5DF7-E0982367B2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A55AA-30DB-4DF7-A19B-1D4D8E3EA8CC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929EB-0C4D-6B4E-23F8-8B2FCC13CB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DFC95-3A1E-94BB-C83E-A57F72182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2AB876-EB67-4FED-916A-604AFDDCFE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2712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22CCE-6748-D7D9-4795-CC8227149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24232"/>
            <a:ext cx="9144000" cy="1527278"/>
          </a:xfrm>
        </p:spPr>
        <p:txBody>
          <a:bodyPr/>
          <a:lstStyle/>
          <a:p>
            <a:r>
              <a:rPr lang="en-IN" dirty="0">
                <a:solidFill>
                  <a:schemeClr val="accent2"/>
                </a:solidFill>
              </a:rPr>
              <a:t>GNR 602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A954ED-2D77-9640-3EED-4B8F55444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399" y="2707301"/>
            <a:ext cx="10363201" cy="3801653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chemeClr val="accent6"/>
                </a:solidFill>
              </a:rPr>
              <a:t>PROBLEM STATEMENT</a:t>
            </a:r>
          </a:p>
          <a:p>
            <a:r>
              <a:rPr lang="en-US" dirty="0"/>
              <a:t>Classify a satellite image using SVM classifier with a number of classes &gt; 2 and compare the results of one versus one and one versus rest methods.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algn="r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Cherish Jain (22b3937)</a:t>
            </a:r>
          </a:p>
          <a:p>
            <a:pPr algn="r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Harsh Anand (22b1249)</a:t>
            </a:r>
          </a:p>
          <a:p>
            <a:pPr algn="r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Medhansh Sharma (22b1287)</a:t>
            </a:r>
            <a:endParaRPr lang="en-IN" dirty="0">
              <a:solidFill>
                <a:schemeClr val="accent5">
                  <a:lumMod val="60000"/>
                  <a:lumOff val="40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437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C5A7F-0F1C-3A79-0CF0-B38090666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b="1" dirty="0"/>
              <a:t>Dataset &amp; its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2A72B-1FA4-A1B9-6626-B98ACE000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Dataset used: </a:t>
            </a:r>
            <a:r>
              <a:rPr lang="en-IN" b="1" dirty="0">
                <a:solidFill>
                  <a:schemeClr val="accent4"/>
                </a:solidFill>
              </a:rPr>
              <a:t>DeepSat-SAT-4</a:t>
            </a:r>
          </a:p>
          <a:p>
            <a:pPr lvl="1"/>
            <a:r>
              <a:rPr lang="en-US" dirty="0"/>
              <a:t>Contains </a:t>
            </a:r>
            <a:r>
              <a:rPr lang="en-US" dirty="0">
                <a:solidFill>
                  <a:srgbClr val="92D050"/>
                </a:solidFill>
              </a:rPr>
              <a:t>99,999 satellite image patches </a:t>
            </a:r>
            <a:r>
              <a:rPr lang="en-US" dirty="0"/>
              <a:t>of size </a:t>
            </a:r>
            <a:r>
              <a:rPr lang="en-US" dirty="0">
                <a:solidFill>
                  <a:srgbClr val="FFFF00"/>
                </a:solidFill>
              </a:rPr>
              <a:t>28×28</a:t>
            </a:r>
            <a:r>
              <a:rPr lang="en-US" dirty="0"/>
              <a:t> pixels with 4 spectral bands: Red, Green, Blue, and Near-Infrared (NIR). </a:t>
            </a:r>
          </a:p>
          <a:p>
            <a:pPr lvl="1"/>
            <a:r>
              <a:rPr lang="en-US" dirty="0"/>
              <a:t>Each image is labeled into one of four land cover classes: </a:t>
            </a:r>
            <a:r>
              <a:rPr lang="en-US" dirty="0">
                <a:solidFill>
                  <a:srgbClr val="FFC000"/>
                </a:solidFill>
              </a:rPr>
              <a:t>Barren Land, Trees, Grassland, or Other.</a:t>
            </a:r>
          </a:p>
          <a:p>
            <a:pPr lvl="1"/>
            <a:r>
              <a:rPr lang="en-US" dirty="0"/>
              <a:t>Extracted only RGB channels (3 bands) for visualization and feature extraction; NIR retained for extended processing.</a:t>
            </a:r>
          </a:p>
        </p:txBody>
      </p:sp>
    </p:spTree>
    <p:extLst>
      <p:ext uri="{BB962C8B-B14F-4D97-AF65-F5344CB8AC3E}">
        <p14:creationId xmlns:p14="http://schemas.microsoft.com/office/powerpoint/2010/main" val="2170437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63B8A-1F1F-8286-C8A6-782E68640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71830"/>
          </a:xfrm>
        </p:spPr>
        <p:txBody>
          <a:bodyPr>
            <a:noAutofit/>
          </a:bodyPr>
          <a:lstStyle/>
          <a:p>
            <a:r>
              <a:rPr lang="en-IN" sz="6000" b="1" dirty="0"/>
              <a:t>Feature Extraction for Satellite Image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02858-A532-3EA1-5F65-E29B5AEC9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8077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IN" b="1" dirty="0">
                <a:solidFill>
                  <a:srgbClr val="FFC000"/>
                </a:solidFill>
              </a:rPr>
              <a:t>1. HOG (Histogram of Oriented Gradients)</a:t>
            </a:r>
          </a:p>
          <a:p>
            <a:pPr lvl="1"/>
            <a:r>
              <a:rPr lang="en-IN" dirty="0"/>
              <a:t>Captures edge and shape information by computing gradient orientations</a:t>
            </a:r>
          </a:p>
          <a:p>
            <a:pPr lvl="1"/>
            <a:r>
              <a:rPr lang="en-IN" dirty="0"/>
              <a:t>Parameters: 9 orientations, 8×8 pixel cells, 2×2 block size</a:t>
            </a:r>
          </a:p>
          <a:p>
            <a:pPr>
              <a:buNone/>
            </a:pPr>
            <a:r>
              <a:rPr lang="en-IN" b="1" dirty="0">
                <a:solidFill>
                  <a:srgbClr val="FFC000"/>
                </a:solidFill>
              </a:rPr>
              <a:t>2. LBP (Local Binary Pattern)</a:t>
            </a:r>
          </a:p>
          <a:p>
            <a:pPr lvl="1"/>
            <a:r>
              <a:rPr lang="en-IN" dirty="0"/>
              <a:t>Captures </a:t>
            </a:r>
            <a:r>
              <a:rPr lang="en-IN" b="1" dirty="0"/>
              <a:t>texture</a:t>
            </a:r>
            <a:r>
              <a:rPr lang="en-IN" dirty="0"/>
              <a:t> by encoding local intensity patterns</a:t>
            </a:r>
          </a:p>
          <a:p>
            <a:pPr lvl="1"/>
            <a:r>
              <a:rPr lang="en-IN" dirty="0"/>
              <a:t>Uses </a:t>
            </a:r>
            <a:r>
              <a:rPr lang="en-IN" b="1" dirty="0"/>
              <a:t>uniform patterns</a:t>
            </a:r>
            <a:r>
              <a:rPr lang="en-IN" dirty="0"/>
              <a:t> with 8 sampling points, radius 1</a:t>
            </a:r>
          </a:p>
          <a:p>
            <a:pPr lvl="1"/>
            <a:r>
              <a:rPr lang="en-IN" dirty="0"/>
              <a:t>Represented as a 59-bin normalized histogram</a:t>
            </a:r>
          </a:p>
          <a:p>
            <a:pPr>
              <a:buNone/>
            </a:pPr>
            <a:r>
              <a:rPr lang="en-IN" b="1" dirty="0">
                <a:solidFill>
                  <a:srgbClr val="FFC000"/>
                </a:solidFill>
              </a:rPr>
              <a:t>3. </a:t>
            </a:r>
            <a:r>
              <a:rPr lang="en-IN" b="1" dirty="0" err="1">
                <a:solidFill>
                  <a:srgbClr val="FFC000"/>
                </a:solidFill>
              </a:rPr>
              <a:t>Color</a:t>
            </a:r>
            <a:r>
              <a:rPr lang="en-IN" b="1" dirty="0">
                <a:solidFill>
                  <a:srgbClr val="FFC000"/>
                </a:solidFill>
              </a:rPr>
              <a:t> Histogram (HSV Space)</a:t>
            </a:r>
          </a:p>
          <a:p>
            <a:pPr lvl="1"/>
            <a:r>
              <a:rPr lang="en-IN" dirty="0"/>
              <a:t>Captures </a:t>
            </a:r>
            <a:r>
              <a:rPr lang="en-IN" b="1" dirty="0" err="1"/>
              <a:t>color</a:t>
            </a:r>
            <a:r>
              <a:rPr lang="en-IN" b="1" dirty="0"/>
              <a:t> distribution</a:t>
            </a:r>
            <a:r>
              <a:rPr lang="en-IN" dirty="0"/>
              <a:t> using histograms from Hue, Saturation, and Value channels</a:t>
            </a:r>
          </a:p>
          <a:p>
            <a:pPr lvl="1"/>
            <a:r>
              <a:rPr lang="en-IN" dirty="0"/>
              <a:t>16 bins per channel → 48-dimensional </a:t>
            </a:r>
            <a:r>
              <a:rPr lang="en-IN" dirty="0" err="1"/>
              <a:t>color</a:t>
            </a:r>
            <a:r>
              <a:rPr lang="en-IN" dirty="0"/>
              <a:t> descriptor</a:t>
            </a:r>
          </a:p>
          <a:p>
            <a:pPr>
              <a:buNone/>
            </a:pPr>
            <a:r>
              <a:rPr lang="en-IN" b="1" dirty="0">
                <a:solidFill>
                  <a:srgbClr val="FFC000"/>
                </a:solidFill>
              </a:rPr>
              <a:t>4. Gabor Filters</a:t>
            </a:r>
          </a:p>
          <a:p>
            <a:pPr lvl="1"/>
            <a:r>
              <a:rPr lang="en-IN" dirty="0"/>
              <a:t>Captures </a:t>
            </a:r>
            <a:r>
              <a:rPr lang="en-IN" b="1" dirty="0"/>
              <a:t>multi-scale, multi-orientation texture</a:t>
            </a:r>
            <a:r>
              <a:rPr lang="en-IN" dirty="0"/>
              <a:t> features</a:t>
            </a:r>
          </a:p>
          <a:p>
            <a:pPr lvl="1"/>
            <a:r>
              <a:rPr lang="en-IN" dirty="0"/>
              <a:t>Applied with 4 orientations and 2 wavelengths → 8 filter responses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257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77E5C-6EDB-F83B-1E4F-55EE5580C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929" y="0"/>
            <a:ext cx="10515600" cy="1325563"/>
          </a:xfrm>
        </p:spPr>
        <p:txBody>
          <a:bodyPr/>
          <a:lstStyle/>
          <a:p>
            <a:r>
              <a:rPr lang="en-IN" b="1" dirty="0"/>
              <a:t>Training Dataset preparation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766E751-55B7-337A-0224-F0A80A3BD0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54364"/>
            <a:ext cx="10370574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Combined Feature Vector Construction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per-image vector: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HOG + LBP + Color Histogram + Gabor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HOG_dim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+ 59 + 48 + 8]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features concatenated into a single matrix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2. Feature Normalization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MinMaxScaler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scale features to range [0, 1]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3. GPU Optimization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features and labels to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CuPy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arrays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compatibility with RAPIDS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cuML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4. Train-Test Split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cuml.model_selection.train_test_split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an 80-20 split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solidFill>
                  <a:srgbClr val="FFC000"/>
                </a:solidFill>
                <a:latin typeface="Arial" panose="020B0604020202020204" pitchFamily="34" charset="0"/>
              </a:rPr>
              <a:t>5. Label Conversion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Labels converted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one-hot vectors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integer class labels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(0 to 3)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183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7427-7893-037E-6222-0B30E26A5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Training 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92BDB62-FB8D-2648-54E7-A5D8797D9B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5806729"/>
              </p:ext>
            </p:extLst>
          </p:nvPr>
        </p:nvGraphicFramePr>
        <p:xfrm>
          <a:off x="720213" y="1491328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66346873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40531014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715747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Parameter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One-vs-One (OVO)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One-vs-Rest (OVR)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505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Accuracy on Test Dataset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95.08 %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90.17 %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794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 taken for training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797.8553941249847 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10.806057929992676 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316241"/>
                  </a:ext>
                </a:extLst>
              </a:tr>
            </a:tbl>
          </a:graphicData>
        </a:graphic>
      </p:graphicFrame>
      <p:pic>
        <p:nvPicPr>
          <p:cNvPr id="3074" name="Picture 2">
            <a:extLst>
              <a:ext uri="{FF2B5EF4-FFF2-40B4-BE49-F238E27FC236}">
                <a16:creationId xmlns:a16="http://schemas.microsoft.com/office/drawing/2014/main" id="{E7C2F91F-8105-1166-904F-C9F44F40B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213" y="2694036"/>
            <a:ext cx="5139966" cy="4038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75C1F15A-115A-6469-25B0-64C3535AA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694037"/>
            <a:ext cx="5139966" cy="4038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4835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2FE27-8864-63A7-9E70-2411C3209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68665" cy="1325563"/>
          </a:xfrm>
        </p:spPr>
        <p:txBody>
          <a:bodyPr>
            <a:noAutofit/>
          </a:bodyPr>
          <a:lstStyle/>
          <a:p>
            <a:r>
              <a:rPr lang="en-IN" sz="6000" b="1" dirty="0">
                <a:solidFill>
                  <a:schemeClr val="accent2"/>
                </a:solidFill>
              </a:rPr>
              <a:t>Patch-Based Segmentation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3A10B-8354-07C9-80F7-F1BA426A2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Patching</a:t>
            </a:r>
            <a:r>
              <a:rPr lang="en-IN" dirty="0"/>
              <a:t>: The input image is divided into overlapping patches of size </a:t>
            </a:r>
            <a:r>
              <a:rPr lang="en-IN" b="1" dirty="0"/>
              <a:t>28×28 pixels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Stride</a:t>
            </a:r>
            <a:r>
              <a:rPr lang="en-IN" dirty="0"/>
              <a:t>: The stride (e.g., 14 pixels) controls overlap—smaller stride = more detail. (Stride can be change in our UI)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Scaling</a:t>
            </a:r>
            <a:r>
              <a:rPr lang="en-IN" dirty="0"/>
              <a:t>: Output class maps (</a:t>
            </a:r>
            <a:r>
              <a:rPr lang="en-IN" dirty="0" err="1"/>
              <a:t>OvO</a:t>
            </a:r>
            <a:r>
              <a:rPr lang="en-IN" dirty="0"/>
              <a:t> &amp; </a:t>
            </a:r>
            <a:r>
              <a:rPr lang="en-IN" dirty="0" err="1"/>
              <a:t>OvR</a:t>
            </a:r>
            <a:r>
              <a:rPr lang="en-IN" dirty="0"/>
              <a:t>) are resized back to original image dimensions using nearest-</a:t>
            </a:r>
            <a:r>
              <a:rPr lang="en-IN" dirty="0" err="1"/>
              <a:t>neighbor</a:t>
            </a:r>
            <a:r>
              <a:rPr lang="en-IN" dirty="0"/>
              <a:t> interpolation.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Output</a:t>
            </a:r>
            <a:r>
              <a:rPr lang="en-IN" dirty="0"/>
              <a:t>: Generates pixel-aligned </a:t>
            </a:r>
            <a:r>
              <a:rPr lang="en-IN" b="1" dirty="0"/>
              <a:t>class masks</a:t>
            </a:r>
            <a:r>
              <a:rPr lang="en-IN" dirty="0"/>
              <a:t>, visualizing predicted land types for each region.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6754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E2296-C51D-1253-147D-1CFCA0A78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463" y="2636377"/>
            <a:ext cx="3143865" cy="1325563"/>
          </a:xfrm>
        </p:spPr>
        <p:txBody>
          <a:bodyPr>
            <a:noAutofit/>
          </a:bodyPr>
          <a:lstStyle/>
          <a:p>
            <a:r>
              <a:rPr lang="en-US" sz="6600" b="1" dirty="0">
                <a:solidFill>
                  <a:schemeClr val="accent2"/>
                </a:solidFill>
              </a:rPr>
              <a:t>Results</a:t>
            </a:r>
            <a:endParaRPr lang="en-IN" sz="66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173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E834E625-7742-B67E-953D-52DB731C1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035" y="1320342"/>
            <a:ext cx="4225659" cy="3160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82A5F33B-65BC-792E-7E7E-60D369CFF52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3722" y="268487"/>
            <a:ext cx="6880123" cy="3165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9976D9B9-9AC9-A737-49A1-A5F0E1B4E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1368" y="3537540"/>
            <a:ext cx="2917723" cy="3086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08616114-A622-5944-E4E2-2EFF9B6DC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9925" y="3572084"/>
            <a:ext cx="2852411" cy="3017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4115E9-6A49-48C0-E1BF-3CB04459EC0E}"/>
              </a:ext>
            </a:extLst>
          </p:cNvPr>
          <p:cNvSpPr txBox="1"/>
          <p:nvPr/>
        </p:nvSpPr>
        <p:spPr>
          <a:xfrm>
            <a:off x="269035" y="4887935"/>
            <a:ext cx="55650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Total time for </a:t>
            </a:r>
            <a:r>
              <a:rPr lang="en-US" b="0" i="0" dirty="0" err="1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OvO</a:t>
            </a:r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 predictions: 5.0558 seconds </a:t>
            </a:r>
          </a:p>
          <a:p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Total time for </a:t>
            </a:r>
            <a:r>
              <a:rPr lang="en-US" b="0" i="0" dirty="0" err="1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OvR</a:t>
            </a:r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 predictions: 0.2383 seconds </a:t>
            </a:r>
          </a:p>
          <a:p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Avg time per </a:t>
            </a:r>
            <a:r>
              <a:rPr lang="en-US" b="0" i="0" dirty="0" err="1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OvO</a:t>
            </a:r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 prediction: 0.0137 seconds </a:t>
            </a:r>
          </a:p>
          <a:p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Avg time per </a:t>
            </a:r>
            <a:r>
              <a:rPr lang="en-US" b="0" i="0" dirty="0" err="1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OvR</a:t>
            </a:r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 prediction: 0.0006 seconds</a:t>
            </a:r>
            <a:endParaRPr lang="en-IN" dirty="0">
              <a:solidFill>
                <a:schemeClr val="accent2"/>
              </a:solidFill>
              <a:latin typeface="Centaur" panose="020305040502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617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DE82FBD7-4852-CB84-E8B0-DD3B6B9F7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74" y="1067973"/>
            <a:ext cx="46101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8B4E4A5A-4F93-D0C5-3F75-B5E4125D5C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6977" y="275457"/>
            <a:ext cx="6678449" cy="2791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9940966E-72E2-4A38-6688-3E0665EDD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6977" y="3178221"/>
            <a:ext cx="3488243" cy="3173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>
            <a:extLst>
              <a:ext uri="{FF2B5EF4-FFF2-40B4-BE49-F238E27FC236}">
                <a16:creationId xmlns:a16="http://schemas.microsoft.com/office/drawing/2014/main" id="{984A764E-FD54-1055-854E-91033A427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4751" y="3178221"/>
            <a:ext cx="3334568" cy="3173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0C0394-41C4-7A28-A957-C190D3F11F84}"/>
              </a:ext>
            </a:extLst>
          </p:cNvPr>
          <p:cNvSpPr txBox="1"/>
          <p:nvPr/>
        </p:nvSpPr>
        <p:spPr>
          <a:xfrm>
            <a:off x="447520" y="4043315"/>
            <a:ext cx="44091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Total time for </a:t>
            </a:r>
            <a:r>
              <a:rPr lang="en-US" b="0" i="0" dirty="0" err="1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OvO</a:t>
            </a:r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 predictions: 3.0243 seconds </a:t>
            </a:r>
          </a:p>
          <a:p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Total time for </a:t>
            </a:r>
            <a:r>
              <a:rPr lang="en-US" b="0" i="0" dirty="0" err="1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OvR</a:t>
            </a:r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 predictions: 0.1383 seconds Avg time per </a:t>
            </a:r>
            <a:r>
              <a:rPr lang="en-US" b="0" i="0" dirty="0" err="1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OvO</a:t>
            </a:r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 prediction: 0.0137 seconds Avg time per </a:t>
            </a:r>
            <a:r>
              <a:rPr lang="en-US" b="0" i="0" dirty="0" err="1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OvR</a:t>
            </a:r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 prediction: 0.0006 seconds</a:t>
            </a:r>
            <a:endParaRPr lang="en-IN" dirty="0">
              <a:solidFill>
                <a:schemeClr val="accent2"/>
              </a:solidFill>
              <a:latin typeface="Centaur" panose="020305040502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843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F1C6D388-02D2-9698-7FC4-05C0672AA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648" y="882447"/>
            <a:ext cx="3267512" cy="337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67D15269-B790-BF9B-FBDA-B53ABB770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367" y="179746"/>
            <a:ext cx="6385567" cy="337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FF39C174-8E3D-BFA5-115B-DFF49125A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7785" y="3590228"/>
            <a:ext cx="3379535" cy="2993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>
            <a:extLst>
              <a:ext uri="{FF2B5EF4-FFF2-40B4-BE49-F238E27FC236}">
                <a16:creationId xmlns:a16="http://schemas.microsoft.com/office/drawing/2014/main" id="{25A58BCC-8AA3-25F1-43D2-0B7EC2133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7320" y="3590228"/>
            <a:ext cx="3233999" cy="3035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9FEB8B-913D-DF87-4B17-BEB203321B43}"/>
              </a:ext>
            </a:extLst>
          </p:cNvPr>
          <p:cNvSpPr txBox="1"/>
          <p:nvPr/>
        </p:nvSpPr>
        <p:spPr>
          <a:xfrm>
            <a:off x="373625" y="4767401"/>
            <a:ext cx="45720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Total time for </a:t>
            </a:r>
            <a:r>
              <a:rPr lang="en-US" b="0" i="0" dirty="0" err="1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OvO</a:t>
            </a:r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 predictions: 9.4590 seconds Total time for </a:t>
            </a:r>
            <a:r>
              <a:rPr lang="en-US" b="0" i="0" dirty="0" err="1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OvR</a:t>
            </a:r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 predictions: 0.4397 seconds Avg time per </a:t>
            </a:r>
            <a:r>
              <a:rPr lang="en-US" b="0" i="0" dirty="0" err="1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OvO</a:t>
            </a:r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 prediction: 0.0146 seconds </a:t>
            </a:r>
          </a:p>
          <a:p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Avg time per </a:t>
            </a:r>
            <a:r>
              <a:rPr lang="en-US" b="0" i="0" dirty="0" err="1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OvR</a:t>
            </a:r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 prediction: 0.0007 seconds</a:t>
            </a:r>
            <a:endParaRPr lang="en-IN" dirty="0">
              <a:solidFill>
                <a:schemeClr val="accent2"/>
              </a:solidFill>
              <a:latin typeface="Centaur" panose="020305040502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896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34D7704B-77A2-A16A-DA30-EF46C0205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28" y="960438"/>
            <a:ext cx="3702787" cy="330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16BE51F6-E2E4-62F1-3FD4-E040965E4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6595" y="201561"/>
            <a:ext cx="5944491" cy="2954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00D33C48-FAB2-3B50-B3D5-BFECDA05A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3641" y="3268151"/>
            <a:ext cx="2896121" cy="2954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>
            <a:extLst>
              <a:ext uri="{FF2B5EF4-FFF2-40B4-BE49-F238E27FC236}">
                <a16:creationId xmlns:a16="http://schemas.microsoft.com/office/drawing/2014/main" id="{1B376AAC-E3E3-BA9D-A8F3-8670769C2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5886" y="3268151"/>
            <a:ext cx="3702788" cy="303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B49513-4143-C6C8-67AA-AC1626FE8F8E}"/>
              </a:ext>
            </a:extLst>
          </p:cNvPr>
          <p:cNvSpPr txBox="1"/>
          <p:nvPr/>
        </p:nvSpPr>
        <p:spPr>
          <a:xfrm>
            <a:off x="206477" y="4548305"/>
            <a:ext cx="49751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Total time for </a:t>
            </a:r>
            <a:r>
              <a:rPr lang="en-US" b="0" i="0" dirty="0" err="1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OvO</a:t>
            </a:r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 predictions: 1.3001 seconds </a:t>
            </a:r>
          </a:p>
          <a:p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Total time for </a:t>
            </a:r>
            <a:r>
              <a:rPr lang="en-US" b="0" i="0" dirty="0" err="1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OvR</a:t>
            </a:r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 predictions: 0.0607 seconds </a:t>
            </a:r>
          </a:p>
          <a:p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Avg time per </a:t>
            </a:r>
            <a:r>
              <a:rPr lang="en-US" b="0" i="0" dirty="0" err="1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OvO</a:t>
            </a:r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 prediction: 0.0144 seconds </a:t>
            </a:r>
          </a:p>
          <a:p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Avg time per </a:t>
            </a:r>
            <a:r>
              <a:rPr lang="en-US" b="0" i="0" dirty="0" err="1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OvR</a:t>
            </a:r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 prediction: 0.0007 seconds</a:t>
            </a:r>
            <a:endParaRPr lang="en-IN" dirty="0">
              <a:solidFill>
                <a:schemeClr val="accent2"/>
              </a:solidFill>
              <a:latin typeface="Centaur" panose="020305040502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648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AED7CE77-BCD0-1AAB-9804-E81D9B292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89" y="1375821"/>
            <a:ext cx="4203208" cy="2970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9CD51358-0AA5-3BFF-BA79-B280E1D04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2838" y="136958"/>
            <a:ext cx="6683022" cy="3007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576E867A-1618-C2BC-6A3E-00D331326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6077" y="3144036"/>
            <a:ext cx="3288272" cy="3424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>
            <a:extLst>
              <a:ext uri="{FF2B5EF4-FFF2-40B4-BE49-F238E27FC236}">
                <a16:creationId xmlns:a16="http://schemas.microsoft.com/office/drawing/2014/main" id="{CDFFF244-CDC1-A758-0AEA-7078BDF7F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2632" y="3144036"/>
            <a:ext cx="3243228" cy="3424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11E4D59-EE3F-0F31-EFB1-C2AC743CE6C4}"/>
              </a:ext>
            </a:extLst>
          </p:cNvPr>
          <p:cNvSpPr txBox="1"/>
          <p:nvPr/>
        </p:nvSpPr>
        <p:spPr>
          <a:xfrm>
            <a:off x="88490" y="485611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Total time for </a:t>
            </a:r>
            <a:r>
              <a:rPr lang="en-US" b="0" i="0" dirty="0" err="1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OvO</a:t>
            </a:r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 predictions: 35.1832 seconds </a:t>
            </a:r>
          </a:p>
          <a:p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Total time for </a:t>
            </a:r>
            <a:r>
              <a:rPr lang="en-US" b="0" i="0" dirty="0" err="1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OvR</a:t>
            </a:r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 predictions: 1.6361 seconds </a:t>
            </a:r>
          </a:p>
          <a:p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Avg time per </a:t>
            </a:r>
            <a:r>
              <a:rPr lang="en-US" b="0" i="0" dirty="0" err="1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OvO</a:t>
            </a:r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 prediction: 0.0145 seconds </a:t>
            </a:r>
          </a:p>
          <a:p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Avg time per </a:t>
            </a:r>
            <a:r>
              <a:rPr lang="en-US" b="0" i="0" dirty="0" err="1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OvR</a:t>
            </a:r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 prediction: 0.0007 seconds</a:t>
            </a:r>
            <a:endParaRPr lang="en-IN" dirty="0">
              <a:solidFill>
                <a:schemeClr val="accent2"/>
              </a:solidFill>
              <a:latin typeface="Centaur" panose="020305040502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931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D1C21D28-EEE8-D6E5-B3FB-C22BC8F5B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71" y="1332271"/>
            <a:ext cx="3510919" cy="2669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BA3B39A0-2934-CB47-59B0-9C4FEA01D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340" y="173140"/>
            <a:ext cx="7025803" cy="3255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7C5C371E-FC42-6073-E6C5-935B93B3D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972" y="3444583"/>
            <a:ext cx="3226747" cy="3413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>
            <a:extLst>
              <a:ext uri="{FF2B5EF4-FFF2-40B4-BE49-F238E27FC236}">
                <a16:creationId xmlns:a16="http://schemas.microsoft.com/office/drawing/2014/main" id="{FADB041D-B53F-9DF3-559F-9FA7306C5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292" y="3444583"/>
            <a:ext cx="3277965" cy="3413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576869-E7B8-E854-1168-960410815363}"/>
              </a:ext>
            </a:extLst>
          </p:cNvPr>
          <p:cNvSpPr txBox="1"/>
          <p:nvPr/>
        </p:nvSpPr>
        <p:spPr>
          <a:xfrm>
            <a:off x="245806" y="4551126"/>
            <a:ext cx="50734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Total time for </a:t>
            </a:r>
            <a:r>
              <a:rPr lang="en-US" b="0" i="0" dirty="0" err="1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OvO</a:t>
            </a:r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 predictions: 4.8023 seconds </a:t>
            </a:r>
          </a:p>
          <a:p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Total time for </a:t>
            </a:r>
            <a:r>
              <a:rPr lang="en-US" b="0" i="0" dirty="0" err="1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OvR</a:t>
            </a:r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 predictions: 0.2233 seconds </a:t>
            </a:r>
          </a:p>
          <a:p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Avg time per </a:t>
            </a:r>
            <a:r>
              <a:rPr lang="en-US" b="0" i="0" dirty="0" err="1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OvO</a:t>
            </a:r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 prediction: 0.0152 seconds </a:t>
            </a:r>
          </a:p>
          <a:p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Avg time per </a:t>
            </a:r>
            <a:r>
              <a:rPr lang="en-US" b="0" i="0" dirty="0" err="1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OvR</a:t>
            </a:r>
            <a:r>
              <a:rPr lang="en-US" b="0" i="0" dirty="0">
                <a:solidFill>
                  <a:schemeClr val="accent2"/>
                </a:solidFill>
                <a:effectLst/>
                <a:latin typeface="Centaur" panose="02030504050205020304" pitchFamily="18" charset="0"/>
              </a:rPr>
              <a:t> prediction: 0.0007 seconds</a:t>
            </a:r>
            <a:endParaRPr lang="en-IN" dirty="0">
              <a:solidFill>
                <a:schemeClr val="accent2"/>
              </a:solidFill>
              <a:latin typeface="Centaur" panose="020305040502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506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53873-3F60-73A5-DA2A-DAA442100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7980" y="79990"/>
            <a:ext cx="2898059" cy="1325563"/>
          </a:xfrm>
        </p:spPr>
        <p:txBody>
          <a:bodyPr/>
          <a:lstStyle/>
          <a:p>
            <a:r>
              <a:rPr lang="en-US" b="1" dirty="0">
                <a:solidFill>
                  <a:srgbClr val="FFFF00"/>
                </a:solidFill>
              </a:rPr>
              <a:t>Conclusion</a:t>
            </a:r>
            <a:endParaRPr lang="en-IN" b="1" dirty="0">
              <a:solidFill>
                <a:srgbClr val="FFFF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F7E0D7-1048-72E6-1964-287D7AD944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197066"/>
              </p:ext>
            </p:extLst>
          </p:nvPr>
        </p:nvGraphicFramePr>
        <p:xfrm>
          <a:off x="926690" y="1169579"/>
          <a:ext cx="10515600" cy="34747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418610982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4611893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3677016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783153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Class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err="1"/>
                        <a:t>OvO</a:t>
                      </a:r>
                      <a:r>
                        <a:rPr lang="en-IN" b="1" dirty="0"/>
                        <a:t> Performance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err="1"/>
                        <a:t>OvR</a:t>
                      </a:r>
                      <a:r>
                        <a:rPr lang="en-IN" b="1" dirty="0"/>
                        <a:t> Performance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Better Classifier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074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Trees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Good detection, but noisier edges in mixed areas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Smooth, consistent detection across dense vegetation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err="1">
                          <a:solidFill>
                            <a:schemeClr val="bg1"/>
                          </a:solidFill>
                        </a:rPr>
                        <a:t>OvR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84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Barren Land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Generally accurate, occasional overclassification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More defined boundaries, stable predictions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err="1">
                          <a:solidFill>
                            <a:schemeClr val="bg1"/>
                          </a:solidFill>
                        </a:rPr>
                        <a:t>OvR</a:t>
                      </a: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 (slight edge)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456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Grassland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Finer details, but prone to fragmentation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Larger, smoother patches, but may lose detail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OvR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(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OvO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good for detail)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125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Other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More misclassifications and inconsistency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More stable, but still least reliable class overall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err="1">
                          <a:solidFill>
                            <a:schemeClr val="bg1"/>
                          </a:solidFill>
                        </a:rPr>
                        <a:t>OvR</a:t>
                      </a: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 (more stable)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7537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3D7D58-2C20-0BB6-F7AA-580338CFCAE8}"/>
              </a:ext>
            </a:extLst>
          </p:cNvPr>
          <p:cNvSpPr txBox="1"/>
          <p:nvPr/>
        </p:nvSpPr>
        <p:spPr>
          <a:xfrm>
            <a:off x="3136490" y="4808896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OvR</a:t>
            </a:r>
            <a:r>
              <a:rPr lang="en-US" dirty="0"/>
              <a:t> is more accurate and visually stable across most land cover types.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OvO</a:t>
            </a:r>
            <a:r>
              <a:rPr lang="en-US" dirty="0"/>
              <a:t> is better suited for tasks needing </a:t>
            </a:r>
            <a:r>
              <a:rPr lang="en-US" b="1" dirty="0"/>
              <a:t>finer boundary detail</a:t>
            </a:r>
            <a:r>
              <a:rPr lang="en-US" dirty="0"/>
              <a:t>, but at the cost of </a:t>
            </a:r>
            <a:r>
              <a:rPr lang="en-US" b="1" dirty="0"/>
              <a:t>consistency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OvO</a:t>
            </a:r>
            <a:r>
              <a:rPr lang="en-US" dirty="0"/>
              <a:t> Takes far more time as compared to </a:t>
            </a:r>
            <a:r>
              <a:rPr lang="en-US" dirty="0" err="1"/>
              <a:t>OvR</a:t>
            </a:r>
            <a:r>
              <a:rPr lang="en-US" dirty="0"/>
              <a:t> due larger number of classifiers.</a:t>
            </a:r>
          </a:p>
        </p:txBody>
      </p:sp>
    </p:spTree>
    <p:extLst>
      <p:ext uri="{BB962C8B-B14F-4D97-AF65-F5344CB8AC3E}">
        <p14:creationId xmlns:p14="http://schemas.microsoft.com/office/powerpoint/2010/main" val="1819993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785</Words>
  <Application>Microsoft Office PowerPoint</Application>
  <PresentationFormat>Widescreen</PresentationFormat>
  <Paragraphs>109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Unicode MS</vt:lpstr>
      <vt:lpstr>Bahnschrift</vt:lpstr>
      <vt:lpstr>Calibri</vt:lpstr>
      <vt:lpstr>Calibri Light</vt:lpstr>
      <vt:lpstr>Centaur</vt:lpstr>
      <vt:lpstr>Office Theme</vt:lpstr>
      <vt:lpstr>GNR 602 Project</vt:lpstr>
      <vt:lpstr>Dataset &amp; its preparation</vt:lpstr>
      <vt:lpstr>Feature Extraction for Satellite Image Classification</vt:lpstr>
      <vt:lpstr>Training Dataset preparation</vt:lpstr>
      <vt:lpstr>Training Results</vt:lpstr>
      <vt:lpstr>Patch-Based Segmentation Strategy</vt:lpstr>
      <vt:lpstr>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Cherish Jain</dc:creator>
  <cp:lastModifiedBy>Cherish Jain</cp:lastModifiedBy>
  <cp:revision>4</cp:revision>
  <dcterms:created xsi:type="dcterms:W3CDTF">2025-04-30T13:24:57Z</dcterms:created>
  <dcterms:modified xsi:type="dcterms:W3CDTF">2025-04-30T19:00:46Z</dcterms:modified>
</cp:coreProperties>
</file>